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041"/>
  </p:normalViewPr>
  <p:slideViewPr>
    <p:cSldViewPr snapToGrid="0" snapToObjects="1">
      <p:cViewPr varScale="1">
        <p:scale>
          <a:sx n="159" d="100"/>
          <a:sy n="159" d="100"/>
        </p:scale>
        <p:origin x="82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235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91440"/>
            <a:ext cx="320040" cy="49606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Meowlytics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B-tree Indexing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AI-Powered Cat Food Ingredient Analyzer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164592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40080" y="306324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 Xing  ·  DSCI 551 Spring 2026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Internals + Application Design — Final Report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2011680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Indexing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017520" y="4160520"/>
            <a:ext cx="201168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01752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Planner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4160520"/>
            <a:ext cx="201168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39496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Motivation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3886200" cy="3840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594360" y="10241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37160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owners struggle to evaluate ingredient quality on commercial cat food labels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names are complex, often unfamiliar, and inconsistently labeled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research is slow and unreliable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PostgreSQL?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3044952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query planner with EXPLAIN ANALYZE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indexes match frequent exact-match ingredient lookups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 enables concurrent reads without blocking writes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+ secondary indexes fit transactional access patterns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960120"/>
            <a:ext cx="4343400" cy="38404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663440" y="102412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Workflow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444752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663440" y="1444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47488" y="14447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uploads a cat food label photo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956816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663440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9568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(Gemini) extracts ingredients and generates analysis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63440" y="2468880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466344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47488" y="2468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B-tree lookup for ingredient knowledge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980944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466344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47488" y="2980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ingredients → AI generates + inserts to DB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63440" y="3493008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4663440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47488" y="3493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saves the analysis to personal favorites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4005072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4663440" y="4005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47488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Favorites retrieved via composite (userId, createdAt) index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434840" y="4526280"/>
            <a:ext cx="434340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4434840" y="452628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dataset: 10,000 ingredients  ·  51 users  ·  5,000 favorites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Architecture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743200" cy="3794760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2743200" cy="43891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411480" y="100584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Storage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67512" y="158191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stored in 8KB heap pages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67512" y="23317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inherent sort order — insertion order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67512" y="3081528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CTIDs locate row by (page, offset)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77056"/>
            <a:ext cx="146304" cy="14630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67512" y="3831336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Meowlytics: Ingredient, User, Favorite tables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1005840"/>
            <a:ext cx="2743200" cy="3794760"/>
          </a:xfrm>
          <a:prstGeom prst="rect">
            <a:avLst/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291840" y="100584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Indexes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37560" y="162763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3547872" y="158191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structures — separate from heap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2377440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3547872" y="23317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tree: root → internal → leaf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37560" y="3127248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3547872" y="3081528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pages store (key, ctid) sorted pairs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37560" y="3877056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3547872" y="3831336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Meowlytics: 3 on Ingredient + 1 composite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80760" y="1005840"/>
            <a:ext cx="2743200" cy="3794760"/>
          </a:xfrm>
          <a:prstGeom prst="rect">
            <a:avLst/>
          </a:prstGeom>
          <a:solidFill>
            <a:srgbClr val="FFFBEB"/>
          </a:solidFill>
          <a:ln w="1905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6080760" y="1005840"/>
            <a:ext cx="2743200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172200" y="100584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 + Planner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17920" y="16276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428232" y="158191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has xmin / xmax transaction IDs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2377440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428232" y="23317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creates new version, old retained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3127248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6428232" y="3081528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Cost-based planner: Index Scan vs Seq Scan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17920" y="3877056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6428232" y="3831336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autovacuum reclaims dead tuples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&amp; Index Design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743200" cy="3794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2743200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411480" y="1005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40280" y="1005840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rows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0020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1856232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  (CUID, PK)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2112264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String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2368296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nameEn   String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2624328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  String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288036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category, healthImpact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" y="3136392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description, benefits...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352044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29768" y="3776472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@@index([name])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29768" y="4032504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@@index([nameEn])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29768" y="4288536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@@index([source])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0" y="1005840"/>
            <a:ext cx="2743200" cy="3794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3200400" y="1005840"/>
            <a:ext cx="274320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3291840" y="1005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20640" y="1005840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rows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10128" y="160020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310128" y="1856232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  (CUID, PK)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10128" y="2112264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  UNIQUE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10128" y="2368296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passwordHash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10128" y="2624328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displayName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10128" y="288036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 / updatedAt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10128" y="352044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310128" y="3776472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Implicit on email (@unique)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80760" y="1005840"/>
            <a:ext cx="2743200" cy="379476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6080760" y="1005840"/>
            <a:ext cx="27432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172200" y="1005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001000" y="1005840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rows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190488" y="160020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90488" y="1856232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  (CUID, PK)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90488" y="2112264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userId   FK → User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90488" y="2368296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brand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90488" y="2624328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   JSON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190488" y="288036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 / updatedAt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90488" y="352044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190488" y="3776472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@@index([userId, createdAt])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90488" y="4032504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composite B-tree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1: Exact Ingredient Lookup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14800" cy="3840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548640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Behavior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89888"/>
            <a:ext cx="3749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user taps an ingredient (e.g. 'Chicken') in the analysis result, the app calls the knowledge API: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388620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12648" y="2084832"/>
            <a:ext cx="366674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"Ingredient"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"nameEn" = 'Chicken'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Mechanism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29184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on nameEn sorted by key value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→ internal nodes → leaf page traversal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buffer hits — no full scan needed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114800" cy="38404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ANALYZE Result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1389888"/>
            <a:ext cx="384048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910328" y="1463040"/>
            <a:ext cx="3621024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Scan using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"Ingredient_nameEn_idx"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"Ingredient"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= 0.29..8.30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time = 0.020..0.020 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Buffers: shared hit = 3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 Time: 0.053 ms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3840480"/>
            <a:ext cx="4114800" cy="914400"/>
          </a:xfrm>
          <a:prstGeom prst="rect">
            <a:avLst/>
          </a:prstGeom>
          <a:solidFill>
            <a:srgbClr val="DCFCE7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4846320" y="39319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0" y="4206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traversal finds exact row in 0.053 ms across 10,000 rows — 3 buffer hits vs 585 for a full scan.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2: Favorites Retrieval — Composite Index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14800" cy="3840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548640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Behavior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8988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logged-in user opens the Favorites page, the app loads their most recent analyses: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993392"/>
            <a:ext cx="38862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12648" y="2066544"/>
            <a:ext cx="36667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"Favorite"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"userId" = $userId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"createdAt" DESC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Index Design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29184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@@index([userId, createdAt]) in Prisma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sorted by (userId, createdAt)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Scan Backward — no Sort node needed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filter AND ORDER BY in one pass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114800" cy="38404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ANALYZE Result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1389888"/>
            <a:ext cx="384048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910328" y="1463040"/>
            <a:ext cx="3621024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Scan Backward using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"Favorite_userId_createdAt_idx"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= 0.28..268.97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time = 0.041..0.086 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returned: 20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Buffers: shared hit = 28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 Time: 0.115 ms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NO Sort node in plan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4114800"/>
            <a:ext cx="4114800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4846320" y="4187952"/>
            <a:ext cx="374904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index eliminates explicit Sort — ORDER BY is 'free' because the index is already sorted in the right direction.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Planner: Cost Estimation &amp; Selectivity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chooses a plan based on estimated cost — not just 'does an index exist?'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3291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02920" y="135331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A: Same query — with vs. without index on nameEn   (Script 04)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4023360" cy="1371600"/>
          </a:xfrm>
          <a:prstGeom prst="rect">
            <a:avLst/>
          </a:prstGeom>
          <a:solidFill>
            <a:srgbClr val="DCFCE7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index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057400"/>
            <a:ext cx="3749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12648" y="2130552"/>
            <a:ext cx="35295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Scan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= 0.29..8.30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Execution: 0.057 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Buffers hit: 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737360"/>
            <a:ext cx="4023360" cy="13716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index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92040" y="2057400"/>
            <a:ext cx="3749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001768" y="2130552"/>
            <a:ext cx="35295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Scan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= 0.00..710.00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Execution: 5.029 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9,999 rows removed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91740" y="1901952"/>
            <a:ext cx="237744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2514600" y="188366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88× slower without index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3246120"/>
            <a:ext cx="8412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502920" y="324612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B: Small table (100 rows) vs large table (10,000 rows)   (Script 05)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630168"/>
            <a:ext cx="4023360" cy="1170432"/>
          </a:xfrm>
          <a:prstGeom prst="rect">
            <a:avLst/>
          </a:prstGeom>
          <a:solidFill>
            <a:srgbClr val="FFF7E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548640" y="36758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100-row table → Seq Scan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950208"/>
            <a:ext cx="3749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cost: 7.25  (&lt;  index cost 8.30)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correctly picks Seq Scan — index overhead not worth it for tiny table.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3630168"/>
            <a:ext cx="4023360" cy="1170432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36758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10,000-row table → Index Scan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3950208"/>
            <a:ext cx="3749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cost: 8.30  (&lt;&lt;  seq cost 710)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switches to Index Scan at scale — cost model, not rule.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Limitation: Fuzzy Search (ILIKE '%...%')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14800" cy="3840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548640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B-tree Cannot Help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8988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ingredient search in the app: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8862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12648" y="1764792"/>
            <a:ext cx="3666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"Ingredient"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"nameEn" ILIKE '%chick%'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560320"/>
            <a:ext cx="37490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sorts keys lexicographically — Chicken &lt; Cod &lt; Duck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wildcard means any position in string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B-tree's sorted order cannot help mid-string patterns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sequential scan required regardless of index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would require GIN index with pg_trgm extension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4114800" cy="384048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846320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ANALYZE Result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00600" y="1389888"/>
            <a:ext cx="3840480" cy="2423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910328" y="1463040"/>
            <a:ext cx="3621024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Scan on "Ingredient"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= 0.00..710.00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606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("nameEn" ~~* '%chick%')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Removed by Filter: 9,400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 Time: 14.214 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3931920"/>
            <a:ext cx="4114800" cy="80467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846320" y="4005072"/>
            <a:ext cx="37490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(B-tree):  </a:t>
            </a: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0.053 ms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Fuzzy ILIKE:  </a:t>
            </a:r>
            <a:r>
              <a:rPr lang="en-US" sz="11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 ms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(268× slower)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MVCC: Multi-Version Concurrency Control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84124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65760" y="89611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never overwrites a row — it writes a new version and marks the old one dead.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353312"/>
            <a:ext cx="2743200" cy="3383280"/>
          </a:xfrm>
          <a:prstGeom prst="rect">
            <a:avLst/>
          </a:prstGeom>
          <a:solidFill>
            <a:srgbClr val="1E293B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320040" y="1353312"/>
            <a:ext cx="27432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393192" y="13533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UPDATE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9768" y="1847088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xmin = 1149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2176272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xmax = 0  (active)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" y="2505456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ctid = (0,1)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2834640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nameEn = Chicken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" y="3493008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(original tuple)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743200" cy="338328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3246120" y="1353312"/>
            <a:ext cx="2743200" cy="38404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319272" y="13533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UPDATE  T=1188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55848" y="1847088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version: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55848" y="2176272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xmin = 1188  (new txn)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55848" y="2505456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xmax = 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55848" y="2834640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ctid = (36,18)  ← new slot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55848" y="3493008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 version retained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1353312"/>
            <a:ext cx="2743200" cy="338328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6172200" y="1353312"/>
            <a:ext cx="27432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245352" y="13533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ROLLBACK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81928" y="1847088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xmin = 1149  (restored)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81928" y="2176272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xmax = 1188  (rolled-back)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81928" y="2505456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ctid = (0,1)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81928" y="2834640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nameEn = Chicken  (visible)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81928" y="3493008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Dead tuple → VACUUM later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0632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EA5E9"/>
                </a:solidFill>
              </a:rPr>
              <a:t>→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98932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</a:rPr>
              <a:t>→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320040" y="4782312"/>
            <a:ext cx="85039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457200" y="4782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n_dead_tup = 1 after ROLLBACK  ·  autovacuum reclaims dead tuples  ·  Readers never block writers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Maintenance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INSERT, UPDATE, and DELETE on indexed columns all trigger B-tree maintenance.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1371600"/>
            <a:ext cx="2743200" cy="3429000"/>
          </a:xfrm>
          <a:prstGeom prst="rect">
            <a:avLst/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320040" y="1371600"/>
            <a:ext cx="2743200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29768" y="1371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13716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ingredient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9768" y="2048256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29768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04088" y="201168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row written to heap page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257860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29768" y="25786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04088" y="254203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traversal to find leaf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108960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429768" y="31089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04088" y="3072384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(key, ctid) entry inserted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9768" y="3639312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429768" y="36393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" y="360273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may split if full → cascades up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29768" y="4169664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429768" y="41696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4088" y="413308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xmin set to current txn ID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1371600"/>
            <a:ext cx="2743200" cy="3429000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3200400" y="1371600"/>
            <a:ext cx="2743200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3310128" y="1371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26280" y="13716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AI record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10128" y="2048256"/>
            <a:ext cx="201168" cy="20116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310128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584448" y="201168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row version written (new ctid)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310128" y="2578608"/>
            <a:ext cx="201168" cy="20116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3310128" y="25786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584448" y="254203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index entry added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310128" y="3108960"/>
            <a:ext cx="201168" cy="20116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3310128" y="31089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584448" y="3072384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entry still points to old tuple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310128" y="3639312"/>
            <a:ext cx="201168" cy="20116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3310128" y="36393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84448" y="360273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xmax on old version, xmin on new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310128" y="4169664"/>
            <a:ext cx="201168" cy="20116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3310128" y="41696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584448" y="413308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becomes dead after VACUUM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80760" y="1371600"/>
            <a:ext cx="2743200" cy="3429000"/>
          </a:xfrm>
          <a:prstGeom prst="rect">
            <a:avLst/>
          </a:prstGeom>
          <a:solidFill>
            <a:srgbClr val="FFFBEB"/>
          </a:solidFill>
          <a:ln w="1905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6080760" y="1371600"/>
            <a:ext cx="27432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/>
          <p:nvPr/>
        </p:nvSpPr>
        <p:spPr>
          <a:xfrm>
            <a:off x="6190488" y="1371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7406640" y="13716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dead-tuple cleanup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190488" y="204825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/>
          <p:nvPr/>
        </p:nvSpPr>
        <p:spPr>
          <a:xfrm>
            <a:off x="6190488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64808" y="201168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by autovacuum daemon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190488" y="25786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/>
          <p:nvPr/>
        </p:nvSpPr>
        <p:spPr>
          <a:xfrm>
            <a:off x="6190488" y="25786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464808" y="254203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dead tuples from heap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190488" y="31089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/>
          <p:nvPr/>
        </p:nvSpPr>
        <p:spPr>
          <a:xfrm>
            <a:off x="6190488" y="31089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64808" y="3072384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dead index entries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190488" y="363931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Text 56"/>
          <p:cNvSpPr/>
          <p:nvPr/>
        </p:nvSpPr>
        <p:spPr>
          <a:xfrm>
            <a:off x="6190488" y="36393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464808" y="360273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pg_statistic for planner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190488" y="416966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/>
          <p:nvPr/>
        </p:nvSpPr>
        <p:spPr>
          <a:xfrm>
            <a:off x="6190488" y="41696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464808" y="413308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bloat, better estimates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Comparison: PostgreSQL vs MySQL vs MongoDB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194560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74904" y="100584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2194560" cy="47548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2569464" y="100584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(this project)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1005840"/>
            <a:ext cx="2194560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764024" y="100584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(InnoDB)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903720" y="1005840"/>
            <a:ext cx="2194560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958584" y="100584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" y="1481328"/>
            <a:ext cx="219456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393192" y="1481328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514600" y="1481328"/>
            <a:ext cx="2194560" cy="512064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2587752" y="1481328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+ secondary B-tree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1481328"/>
            <a:ext cx="219456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782312" y="1481328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B-tree (PK)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903720" y="1481328"/>
            <a:ext cx="219456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976872" y="1481328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BSON documents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1993392"/>
            <a:ext cx="21945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393192" y="1993392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type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514600" y="1993392"/>
            <a:ext cx="2194560" cy="512064"/>
          </a:xfrm>
          <a:prstGeom prst="rect">
            <a:avLst/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2587752" y="1993392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B-tree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1993392"/>
            <a:ext cx="21945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4782312" y="1993392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secondary B-tree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903720" y="1993392"/>
            <a:ext cx="21945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976872" y="1993392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B-tree, text, geo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2505456"/>
            <a:ext cx="219456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93192" y="2505456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514600" y="2505456"/>
            <a:ext cx="2194560" cy="512064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2587752" y="2505456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 (no read locks)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09160" y="2505456"/>
            <a:ext cx="219456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4782312" y="2505456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 (undo logs)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903720" y="2505456"/>
            <a:ext cx="219456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976872" y="2505456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 (WiredTiger)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" y="3017520"/>
            <a:ext cx="21945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393192" y="3017520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search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514600" y="3017520"/>
            <a:ext cx="2194560" cy="512064"/>
          </a:xfrm>
          <a:prstGeom prst="rect">
            <a:avLst/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2587752" y="3017520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 scan (GIN needed)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09160" y="3017520"/>
            <a:ext cx="21945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4782312" y="3017520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index (FULLTEXT)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903720" y="3017520"/>
            <a:ext cx="21945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6976872" y="3017520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index / regex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20040" y="3529584"/>
            <a:ext cx="219456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/>
          <p:nvPr/>
        </p:nvSpPr>
        <p:spPr>
          <a:xfrm>
            <a:off x="393192" y="3529584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planner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514600" y="3529584"/>
            <a:ext cx="2194560" cy="512064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/>
          <p:nvPr/>
        </p:nvSpPr>
        <p:spPr>
          <a:xfrm>
            <a:off x="2587752" y="3529584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Cost-based (transparent)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709160" y="3529584"/>
            <a:ext cx="219456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8"/>
          <p:cNvSpPr/>
          <p:nvPr/>
        </p:nvSpPr>
        <p:spPr>
          <a:xfrm>
            <a:off x="4782312" y="3529584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Cost-based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903720" y="3529584"/>
            <a:ext cx="219456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/>
          <p:nvPr/>
        </p:nvSpPr>
        <p:spPr>
          <a:xfrm>
            <a:off x="6976872" y="3529584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optimizer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20040" y="4041648"/>
            <a:ext cx="21945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/>
          <p:nvPr/>
        </p:nvSpPr>
        <p:spPr>
          <a:xfrm>
            <a:off x="393192" y="4041648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fit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514600" y="4041648"/>
            <a:ext cx="2194560" cy="512064"/>
          </a:xfrm>
          <a:prstGeom prst="rect">
            <a:avLst/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Text 54"/>
          <p:cNvSpPr/>
          <p:nvPr/>
        </p:nvSpPr>
        <p:spPr>
          <a:xfrm>
            <a:off x="2587752" y="4041648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+ analytics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709160" y="4041648"/>
            <a:ext cx="21945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Text 56"/>
          <p:cNvSpPr/>
          <p:nvPr/>
        </p:nvSpPr>
        <p:spPr>
          <a:xfrm>
            <a:off x="4782312" y="4041648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OLTP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903720" y="4041648"/>
            <a:ext cx="21945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Text 58"/>
          <p:cNvSpPr/>
          <p:nvPr/>
        </p:nvSpPr>
        <p:spPr>
          <a:xfrm>
            <a:off x="6976872" y="4041648"/>
            <a:ext cx="20482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schemas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0352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Lessons Learned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5953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023360" cy="3840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02336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search not indexed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Leading-wildcard ILIKE forces Seq Scan. Would need GIN + pg_trgm.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3042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needs API key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Gemini analysis requires GOOGLE_API_KEY. Pre-seeded data covers DB demo.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31272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 write overhead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UPDATE writes a new heap version. Dead tuples accumulate until VACUUM.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95020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Single-node only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4206240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distribution or replication — PG supports them but not demonstrated.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960120"/>
            <a:ext cx="4160520" cy="38404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4617720" y="960120"/>
            <a:ext cx="4160520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00600" y="148132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design reflects query patterns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00600" y="1737360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(userId, createdAt) serves both filter and sort because the app always filters by user AND sorts by time.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00600" y="230428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model drives plan choice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00600" y="2560320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chose Seq Scan on 100 rows even with an index — cost estimation, not index existence, decides.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312724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 enables concurrency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00600" y="3383280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tuple versions let readers see consistent snapshots while writers insert new versions — no read locks.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00600" y="395020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ANALYZE is ground truth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00600" y="4206240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hits + timing confirm assumptions that pure theory cannot.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73152" cy="5943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4008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Indexing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lookup (nameEn) uses Index Scan with 3 buffer hits — 88× faster than without index at 10,000 rows.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773936"/>
            <a:ext cx="73152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40080" y="1773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Index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04825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Favorites retrieval uses Index Scan Backward — ORDER BY is free because the index is already sorted.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23744"/>
            <a:ext cx="73152" cy="5943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0080" y="25237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Planner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79806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correctly uses Seq Scan on 100 rows and Index Scan on 10,000 rows — cost-based, not rule-based.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73152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40080" y="32735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5478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UPDATE creates a new tuple version. Snapshot isolation allows concurrent reads. Dead tuples accumulate until VACUUM.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73152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40080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Limitation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ILIKE '%chick%' forces Seq Scan — B-tree cannot serve leading-wildcard patterns. GIN + pg_trgm would fix 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 Xing  ·  DSCI 551 Spring 2026  ·  github.com/… /dsci551-project-meowlytics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1607</Words>
  <Application>Microsoft Macintosh PowerPoint</Application>
  <PresentationFormat>全屏显示(16:9)</PresentationFormat>
  <Paragraphs>310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Meowlytics - DSCI 551 Final Report</dc:title>
  <dc:subject>PptxGenJS Presentation</dc:subject>
  <dc:creator>Wei Xing</dc:creator>
  <cp:lastModifiedBy>Wei Xing</cp:lastModifiedBy>
  <cp:revision>3</cp:revision>
  <dcterms:created xsi:type="dcterms:W3CDTF">2026-04-19T22:02:44Z</dcterms:created>
  <dcterms:modified xsi:type="dcterms:W3CDTF">2026-04-19T23:14:02Z</dcterms:modified>
</cp:coreProperties>
</file>